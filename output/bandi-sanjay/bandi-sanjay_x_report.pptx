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109728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F47216"/>
                </a:solidFill>
                <a:latin typeface="Calibri"/>
              </a:rPr>
              <a:t>BJP  |  WEEKLY MEDIA &amp; SOCIAL SENTIMENT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Bandi Sanjay Kumar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>
                <a:solidFill>
                  <a:srgbClr val="CFCFCF"/>
                </a:solidFill>
                <a:latin typeface="Calibri"/>
              </a:rPr>
              <a:t>Union Minister of State for Home Affairs | MP, Karimnagar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84632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X / Social Listening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486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AAAAA"/>
                </a:solidFill>
                <a:latin typeface="Calibri"/>
              </a:rPr>
              <a:t>Week of 5-11 June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7216"/>
                </a:solidFill>
                <a:latin typeface="Calibri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The week on X at a glance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2697480" cy="1371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37160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581912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7216"/>
                </a:solidFill>
                <a:latin typeface="Calibri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25856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Posts from official handle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02152" y="1417320"/>
            <a:ext cx="2697480" cy="1371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02152" y="1417320"/>
            <a:ext cx="73152" cy="137160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85032" y="1581912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7216"/>
                </a:solidFill>
                <a:latin typeface="Calibri"/>
              </a:rPr>
              <a:t>38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25856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Conversation items sampled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64224" y="1417320"/>
            <a:ext cx="2697480" cy="1371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64224" y="1417320"/>
            <a:ext cx="73152" cy="137160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47104" y="1581912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7216"/>
                </a:solidFill>
                <a:latin typeface="Calibri"/>
              </a:rPr>
              <a:t>57%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7104" y="225856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Negative share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26296" y="1417320"/>
            <a:ext cx="2697480" cy="1371600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226296" y="1417320"/>
            <a:ext cx="73152" cy="1371600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09176" y="1581912"/>
            <a:ext cx="24231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>
                <a:solidFill>
                  <a:srgbClr val="F47216"/>
                </a:solidFill>
                <a:latin typeface="Calibri"/>
              </a:rPr>
              <a:t>21%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09176" y="2258568"/>
            <a:ext cx="2423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Positive share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06324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The week's online conversation skewed strongly negative (about 58% of the mention sample), driven almost entirely by the POCSO case involving his son, not by policy.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His own handle stayed rigorously on-message - 12 Years of Modi Seva, natural farming and the school-cleaning campaign - with the Jhalmuri-with-NDA post his highest-reach item (about 11K views).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Press coverage was more balanced than social: governance and outreach stories ran positive, while the POCSO thread gave the opposition a sustained negative hook.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A1A1A"/>
                </a:solidFill>
                <a:latin typeface="Calibri"/>
              </a:rPr>
              <a:t>•  Off-handle name-variant conversation was markedly harsher than handle-tagged mentions, mirroring the KTR finding.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7216"/>
                </a:solidFill>
                <a:latin typeface="Calibri"/>
              </a:rPr>
              <a:t>SENTIMENT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Sentiment split &amp; daily volume</a:t>
            </a:r>
          </a:p>
        </p:txBody>
      </p:sp>
      <p:pic>
        <p:nvPicPr>
          <p:cNvPr id="6" name="Picture 5" descr="x_senti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3840480" cy="4674637"/>
          </a:xfrm>
          <a:prstGeom prst="rect">
            <a:avLst/>
          </a:prstGeom>
        </p:spPr>
      </p:pic>
      <p:pic>
        <p:nvPicPr>
          <p:cNvPr id="7" name="Picture 6" descr="x_dail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737360"/>
            <a:ext cx="6949440" cy="32697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7216"/>
                </a:solidFill>
                <a:latin typeface="Calibri"/>
              </a:rPr>
              <a:t>ISSUES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What drove negative conversation</a:t>
            </a:r>
          </a:p>
        </p:txBody>
      </p:sp>
      <p:pic>
        <p:nvPicPr>
          <p:cNvPr id="6" name="Picture 5" descr="x_issu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463040"/>
            <a:ext cx="6766560" cy="25135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772400" y="1554480"/>
            <a:ext cx="3931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Son's POCSO case and alleged shielding was the single largest negative driver.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A 'where is Bandi / phone unavailable' absence narrative gained traction.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Sanatani-hypocrisy mockery recycled older jibes against him.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1A1A1A"/>
                </a:solidFill>
                <a:latin typeface="Calibri"/>
              </a:rPr>
              <a:t>•  His own posts stayed strictly on the 12-Years-of-Modi-Seva message.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A12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64592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47216"/>
                </a:solidFill>
                <a:latin typeface="Calibri"/>
              </a:rPr>
              <a:t>TOP POSTS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Highest-reach posts this week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17320"/>
            <a:ext cx="10881360" cy="107899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417320"/>
            <a:ext cx="73152" cy="1078992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508760"/>
            <a:ext cx="850392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Next Sarvapindi calling - PM Modi enjoying Jhalmuri with NDA leaders at the alliance meeting, Bharat Mandapam, Delhi.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0" y="1709928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F47216"/>
                </a:solidFill>
                <a:latin typeface="Calibri"/>
              </a:rPr>
              <a:t>11,000 views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624328"/>
            <a:ext cx="10881360" cy="107899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2624328"/>
            <a:ext cx="73152" cy="1078992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715768"/>
            <a:ext cx="850392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12 Years of Seva: Mana Badi - Mana Badhyatha. Not every act of nation-building needs a stage; sometimes it begins with a broom and a classroom.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2916936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F47216"/>
                </a:solidFill>
                <a:latin typeface="Calibri"/>
              </a:rPr>
              <a:t>4,000 views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3831336"/>
            <a:ext cx="10881360" cy="107899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3831336"/>
            <a:ext cx="73152" cy="1078992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922776"/>
            <a:ext cx="850392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Future generations will read about the greatness of this period of India in textbooks. (12 Years of Seva)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4123944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F47216"/>
                </a:solidFill>
                <a:latin typeface="Calibri"/>
              </a:rPr>
              <a:t>3,600 views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5038344"/>
            <a:ext cx="10881360" cy="1078992"/>
          </a:xfrm>
          <a:prstGeom prst="rect">
            <a:avLst/>
          </a:prstGeom>
          <a:solidFill>
            <a:srgbClr val="F4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0080" y="5038344"/>
            <a:ext cx="73152" cy="1078992"/>
          </a:xfrm>
          <a:prstGeom prst="rect">
            <a:avLst/>
          </a:prstGeom>
          <a:solidFill>
            <a:srgbClr val="F472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5129784"/>
            <a:ext cx="8503920" cy="8961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1A1A1A"/>
                </a:solidFill>
                <a:latin typeface="Calibri"/>
              </a:rPr>
              <a:t>Rythu Sammelanam on Natural Farming at the Krishi Vigyan Kendra, Jammikunta, marking 12 Years of Seva.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5330952"/>
            <a:ext cx="1828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300" b="1">
                <a:solidFill>
                  <a:srgbClr val="F47216"/>
                </a:solidFill>
                <a:latin typeface="Calibri"/>
              </a:rPr>
              <a:t>2,883 views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